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68" r:id="rId2"/>
    <p:sldId id="256" r:id="rId3"/>
    <p:sldId id="257" r:id="rId4"/>
    <p:sldId id="258" r:id="rId5"/>
    <p:sldId id="259" r:id="rId6"/>
    <p:sldId id="260" r:id="rId7"/>
    <p:sldId id="269" r:id="rId8"/>
    <p:sldId id="270" r:id="rId9"/>
    <p:sldId id="271" r:id="rId10"/>
    <p:sldId id="272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57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FA122C-00D1-8943-4369-40D215464AED}"/>
              </a:ext>
            </a:extLst>
          </p:cNvPr>
          <p:cNvSpPr/>
          <p:nvPr/>
        </p:nvSpPr>
        <p:spPr>
          <a:xfrm>
            <a:off x="236220" y="281940"/>
            <a:ext cx="1706880" cy="11963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D481FA-16E7-78D2-AFA7-5A4FF8AE7CD1}"/>
              </a:ext>
            </a:extLst>
          </p:cNvPr>
          <p:cNvSpPr/>
          <p:nvPr/>
        </p:nvSpPr>
        <p:spPr>
          <a:xfrm>
            <a:off x="1531620" y="746760"/>
            <a:ext cx="5775960" cy="476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BIENVENUE A NOTRE PRESENTATION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09049-316B-559A-A54D-A430B1DB9B68}"/>
              </a:ext>
            </a:extLst>
          </p:cNvPr>
          <p:cNvSpPr/>
          <p:nvPr/>
        </p:nvSpPr>
        <p:spPr>
          <a:xfrm>
            <a:off x="7048500" y="281940"/>
            <a:ext cx="1623060" cy="1097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4402D8-218C-3371-3B38-946835E7AD46}"/>
              </a:ext>
            </a:extLst>
          </p:cNvPr>
          <p:cNvSpPr/>
          <p:nvPr/>
        </p:nvSpPr>
        <p:spPr>
          <a:xfrm>
            <a:off x="998220" y="1303020"/>
            <a:ext cx="7353300" cy="126873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CONCEPTION ET RÉALISATION D'UNE APPLICATION WEB DE DETECTION D'ARMES PAR INTELLIGENCE ARTIFICIELLEAVEC PYTHON ET VISION PAR ORDINATEUR POUR LE COMPTE DU CFPD-ISGD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8050D8-C625-4496-EF97-183B2570CF73}"/>
              </a:ext>
            </a:extLst>
          </p:cNvPr>
          <p:cNvSpPr/>
          <p:nvPr/>
        </p:nvSpPr>
        <p:spPr>
          <a:xfrm>
            <a:off x="419100" y="2663191"/>
            <a:ext cx="8442960" cy="11010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i="1" dirty="0">
                <a:solidFill>
                  <a:schemeClr val="tx1"/>
                </a:solidFill>
                <a:latin typeface="Times New Roman" panose="02020603050405020304" pitchFamily="18" charset="0"/>
                <a:ea typeface="Open Sans Light" panose="020B0306030504020204" pitchFamily="34" charset="0"/>
                <a:cs typeface="Times New Roman" panose="02020603050405020304" pitchFamily="18" charset="0"/>
              </a:rPr>
              <a:t>En effet, dans le cadre de notre fin de cycle de formation, nous sommes emmené a effectuer un stage académique au sein d’une entreprise afin d’asseoir et consolider les compétences acquises en salle.</a:t>
            </a:r>
          </a:p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F24781-02D4-5B5B-E8C6-1E402F5EB2EA}"/>
              </a:ext>
            </a:extLst>
          </p:cNvPr>
          <p:cNvSpPr/>
          <p:nvPr/>
        </p:nvSpPr>
        <p:spPr>
          <a:xfrm>
            <a:off x="2065020" y="3855720"/>
            <a:ext cx="509016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</a:pP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Présenté par </a:t>
            </a:r>
          </a:p>
          <a:p>
            <a:pPr algn="ctr">
              <a:lnSpc>
                <a:spcPct val="114000"/>
              </a:lnSpc>
            </a:pP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MEKONGO EKASSI AMARYLDO CEDRIC</a:t>
            </a:r>
            <a:endParaRPr lang="fr-FR" sz="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9F85E1-2A99-63C5-1278-69C3BCEF5BA1}"/>
              </a:ext>
            </a:extLst>
          </p:cNvPr>
          <p:cNvSpPr/>
          <p:nvPr/>
        </p:nvSpPr>
        <p:spPr>
          <a:xfrm>
            <a:off x="2065020" y="4785360"/>
            <a:ext cx="5090160" cy="1638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Année académique : 2025 - 2026</a:t>
            </a:r>
          </a:p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60A988-ED80-268F-7898-5B4E014D34C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86435" y="220980"/>
            <a:ext cx="1051560" cy="10515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01AF0C-31B4-2B42-5AF8-FB8184E6195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155180" y="533400"/>
            <a:ext cx="1302385" cy="458470"/>
          </a:xfrm>
          <a:prstGeom prst="rect">
            <a:avLst/>
          </a:prstGeom>
        </p:spPr>
      </p:pic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A32EA64A-3616-B15E-10CD-64E05357BA44}"/>
              </a:ext>
            </a:extLst>
          </p:cNvPr>
          <p:cNvSpPr/>
          <p:nvPr/>
        </p:nvSpPr>
        <p:spPr>
          <a:xfrm rot="2670916">
            <a:off x="874357" y="3046033"/>
            <a:ext cx="541020" cy="1892437"/>
          </a:xfrm>
          <a:prstGeom prst="flowChartConnector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EBE937D-000B-C6BC-817D-DC2D370A29EC}"/>
              </a:ext>
            </a:extLst>
          </p:cNvPr>
          <p:cNvSpPr/>
          <p:nvPr/>
        </p:nvSpPr>
        <p:spPr>
          <a:xfrm rot="19053130">
            <a:off x="7919715" y="3153210"/>
            <a:ext cx="650557" cy="1836428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0429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SYSTÈME DE DÉTECTION D'ARMES</a:t>
            </a:r>
            <a:endParaRPr lang="en-US" sz="3800" dirty="0"/>
          </a:p>
          <a:p>
            <a:pPr marL="0" indent="0" algn="ctr">
              <a:lnSpc>
                <a:spcPts val="3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 INTELLIGENCE ARTIFICIELLE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</a:rPr>
              <a:t>Projet de Stage Académique BTS Génie Logiciel Niveau 2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Centre de Formation Professionnelle Deutou (CFPD)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Institut Universitaire de la Côte (IUC)
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</a:rPr>
              <a:t>Juillet - Août 2025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SOMMAIRE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097280"/>
          </a:xfrm>
          <a:prstGeom prst="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46304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PRÉSENTATION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Entreprise &amp; Stage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560320" cy="1097280"/>
          </a:xfrm>
          <a:prstGeom prst="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20624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CONTEXTE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Problématique &amp; Objectifs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1188720"/>
            <a:ext cx="2560320" cy="1097280"/>
          </a:xfrm>
          <a:prstGeom prst="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94944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ANALYSE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Besoins &amp; Conception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2560320" cy="1097280"/>
          </a:xfrm>
          <a:prstGeom prst="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2697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</a:rPr>
              <a:t>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46304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ARCHITECTURE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3154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Structure Technique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560320"/>
            <a:ext cx="2560320" cy="1097280"/>
          </a:xfrm>
          <a:prstGeom prst="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83280" y="2697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</a:rPr>
              <a:t>5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20624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IMPLÉMENTATION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06240" y="3154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Développement &amp; Tests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2560320"/>
            <a:ext cx="2560320" cy="1097280"/>
          </a:xfrm>
          <a:prstGeom prst="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26480" y="2697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</a:rPr>
              <a:t>6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94944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RÉSULTATS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3154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Démonstration &amp; Bilan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PRÉSENTATION DE L'ENTREPRISE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0F9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Centre de Formation Professionnelle Deutou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📍 Makepe, Douala, Cameroun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📅 Fondé </a:t>
            </a:r>
            <a:r>
              <a:rPr lang="en-US" sz="1200" dirty="0" err="1">
                <a:solidFill>
                  <a:srgbClr val="0F172A"/>
                </a:solidFill>
              </a:rPr>
              <a:t>en</a:t>
            </a:r>
            <a:r>
              <a:rPr lang="en-US" sz="1200" dirty="0">
                <a:solidFill>
                  <a:srgbClr val="0F172A"/>
                </a:solidFill>
              </a:rPr>
              <a:t> 2004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👩‍🏫 Fondatrice: Mme </a:t>
            </a:r>
            <a:r>
              <a:rPr lang="en-US" sz="1200" dirty="0" err="1">
                <a:solidFill>
                  <a:srgbClr val="0F172A"/>
                </a:solidFill>
              </a:rPr>
              <a:t>Deutou</a:t>
            </a:r>
            <a:r>
              <a:rPr lang="en-US" sz="1200" dirty="0">
                <a:solidFill>
                  <a:srgbClr val="0F172A"/>
                </a:solidFill>
              </a:rPr>
              <a:t> Martine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🎓 Agréé par le MINEFOP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</a:rPr>
              <a:t>Domaines: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</a:t>
            </a:r>
            <a:r>
              <a:rPr lang="en-US" sz="1200" dirty="0" err="1">
                <a:solidFill>
                  <a:srgbClr val="0F172A"/>
                </a:solidFill>
              </a:rPr>
              <a:t>Stylisme-modélisme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</a:t>
            </a:r>
            <a:r>
              <a:rPr lang="en-US" sz="1200" dirty="0" err="1">
                <a:solidFill>
                  <a:srgbClr val="0F172A"/>
                </a:solidFill>
              </a:rPr>
              <a:t>Décoration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Développement informatique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Planning du Stage (8 semaines)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00200"/>
            <a:ext cx="35661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28090"/>
                </a:solidFill>
              </a:rPr>
              <a:t>S1-S3: </a:t>
            </a:r>
            <a:r>
              <a:rPr lang="en-US" sz="1200" dirty="0">
                <a:solidFill>
                  <a:srgbClr val="0F172A"/>
                </a:solidFill>
              </a:rPr>
              <a:t>Analyse &amp; Conception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  • Prise de contact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  • Cahier des charges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  • Diagrammes UML
</a:t>
            </a:r>
            <a:r>
              <a:rPr lang="en-US" sz="1200" b="1" dirty="0">
                <a:solidFill>
                  <a:srgbClr val="028090"/>
                </a:solidFill>
              </a:rPr>
              <a:t>S4-S6: 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Développement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  • Backend Flask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  • Interface web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  • Base de données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28090"/>
                </a:solidFill>
              </a:rPr>
              <a:t>S7-S8: 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IA &amp; </a:t>
            </a:r>
            <a:r>
              <a:rPr lang="en-US" sz="1200" dirty="0" err="1">
                <a:solidFill>
                  <a:srgbClr val="0F172A"/>
                </a:solidFill>
              </a:rPr>
              <a:t>Finalisation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  • Intégration YOLO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  • Tests &amp; validation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  • Documentation</a:t>
            </a:r>
            <a:endParaRPr lang="en-US" sz="1200" dirty="0"/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PROBLÉMATIQUE &amp; CONTEXTE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188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Contexte sécuritaire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17373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Augmentation des actes de violence dans les zones urbaines. Les systèmes de vidéosurveillance traditionnels reposent sur l'observation humaine, présentant plusieurs limites : fatigue des agents, manque d'attention, difficulté d'analyser plusieurs flux simultanément.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2834640"/>
            <a:ext cx="7680960" cy="13716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❓ QUESTION CENTRALE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429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FFFFFF"/>
                </a:solidFill>
              </a:rPr>
              <a:t>Comment concevoir un système intelligent capable de détecter automatiquement la présence d'armes dans un flux vidéo afin d'améliorer la sécurité et la réactivité des agents de surveillance 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OBJECTIFS DU PROJET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14300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Objectif Principal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146304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Concevoir et développer un système intelligent de détection d'armes en temps réel avec niveau de précision satisfaisant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103120"/>
            <a:ext cx="4114800" cy="548640"/>
          </a:xfrm>
          <a:prstGeom prst="rect">
            <a:avLst/>
          </a:prstGeom>
          <a:solidFill>
            <a:srgbClr val="F0F9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2240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2240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Détection en temps réel via YOLO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46320" y="2103120"/>
            <a:ext cx="4114800" cy="548640"/>
          </a:xfrm>
          <a:prstGeom prst="rect">
            <a:avLst/>
          </a:prstGeom>
          <a:solidFill>
            <a:srgbClr val="F0F9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0" y="2240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0" y="2240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Capture et enregistrement auto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743200"/>
            <a:ext cx="4114800" cy="548640"/>
          </a:xfrm>
          <a:prstGeom prst="rect">
            <a:avLst/>
          </a:prstGeom>
          <a:solidFill>
            <a:srgbClr val="F0F9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" y="2880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97280" y="2880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Interface web interactive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846320" y="2743200"/>
            <a:ext cx="4114800" cy="548640"/>
          </a:xfrm>
          <a:prstGeom prst="rect">
            <a:avLst/>
          </a:prstGeom>
          <a:solidFill>
            <a:srgbClr val="F0F9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0" y="2880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486400" y="2880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Système d'alertes intelligent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383280"/>
            <a:ext cx="4114800" cy="548640"/>
          </a:xfrm>
          <a:prstGeom prst="rect">
            <a:avLst/>
          </a:prstGeom>
          <a:solidFill>
            <a:srgbClr val="F0F9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0080" y="3520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97280" y="3520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Gestion BDD et historique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846320" y="3383280"/>
            <a:ext cx="4114800" cy="548640"/>
          </a:xfrm>
          <a:prstGeom prst="rect">
            <a:avLst/>
          </a:prstGeom>
          <a:solidFill>
            <a:srgbClr val="F0F9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029200" y="3520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</a:rPr>
              <a:t>✓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486400" y="3520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Authentification sécurisée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4B0BF7-0239-8DE3-DA6B-1CFEC95C4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327" y="1150620"/>
            <a:ext cx="6296025" cy="345948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B4DE0BE-9DF5-083B-4D8B-AA2062484228}"/>
              </a:ext>
            </a:extLst>
          </p:cNvPr>
          <p:cNvSpPr/>
          <p:nvPr/>
        </p:nvSpPr>
        <p:spPr>
          <a:xfrm>
            <a:off x="327660" y="381000"/>
            <a:ext cx="5570220" cy="7086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METHODOLOGIE UTILISEES  : SCRUM  </a:t>
            </a:r>
          </a:p>
        </p:txBody>
      </p:sp>
    </p:spTree>
    <p:extLst>
      <p:ext uri="{BB962C8B-B14F-4D97-AF65-F5344CB8AC3E}">
        <p14:creationId xmlns:p14="http://schemas.microsoft.com/office/powerpoint/2010/main" val="3167912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9DCDCD-3746-AF4C-5637-EA24AA915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325879"/>
            <a:ext cx="8801100" cy="372012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9FDD3CF-1E25-27E4-2E12-E144EB4D300E}"/>
              </a:ext>
            </a:extLst>
          </p:cNvPr>
          <p:cNvSpPr/>
          <p:nvPr/>
        </p:nvSpPr>
        <p:spPr>
          <a:xfrm>
            <a:off x="342900" y="304800"/>
            <a:ext cx="6004560" cy="55626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Diagramme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cas d’utilisation</a:t>
            </a:r>
          </a:p>
        </p:txBody>
      </p:sp>
    </p:spTree>
    <p:extLst>
      <p:ext uri="{BB962C8B-B14F-4D97-AF65-F5344CB8AC3E}">
        <p14:creationId xmlns:p14="http://schemas.microsoft.com/office/powerpoint/2010/main" val="2577532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101789-214A-B390-C50D-9B65AC7FF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" y="1135380"/>
            <a:ext cx="7665720" cy="392834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1FCDCAB-FA1A-AA83-5582-912668316B6F}"/>
              </a:ext>
            </a:extLst>
          </p:cNvPr>
          <p:cNvSpPr/>
          <p:nvPr/>
        </p:nvSpPr>
        <p:spPr>
          <a:xfrm>
            <a:off x="327660" y="152400"/>
            <a:ext cx="6819900" cy="73914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Diagramme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849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CCA659-20BA-35E7-128A-E7AD4B1B6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777240"/>
            <a:ext cx="8183880" cy="425196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958424E-F41E-2953-85CD-F1DDE8392BB0}"/>
              </a:ext>
            </a:extLst>
          </p:cNvPr>
          <p:cNvSpPr/>
          <p:nvPr/>
        </p:nvSpPr>
        <p:spPr>
          <a:xfrm>
            <a:off x="426720" y="99060"/>
            <a:ext cx="6781800" cy="62484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Diagramme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sequence</a:t>
            </a:r>
          </a:p>
        </p:txBody>
      </p:sp>
    </p:spTree>
    <p:extLst>
      <p:ext uri="{BB962C8B-B14F-4D97-AF65-F5344CB8AC3E}">
        <p14:creationId xmlns:p14="http://schemas.microsoft.com/office/powerpoint/2010/main" val="1267688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ARCHITECTURE DU SYSTÈME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71600" y="1097280"/>
            <a:ext cx="3200400" cy="457200"/>
          </a:xfrm>
          <a:prstGeom prst="rect">
            <a:avLst/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554480" y="1143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Caméra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Webcam / CCTV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057400" y="1554480"/>
            <a:ext cx="0" cy="13716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691640"/>
            <a:ext cx="4572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371600" y="1691640"/>
            <a:ext cx="3200400" cy="45720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1554480" y="1737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Capture Vidéo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OpenCV - 30 FPS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057400" y="2148840"/>
            <a:ext cx="0" cy="13716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2860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371600" y="2286000"/>
            <a:ext cx="3200400" cy="457200"/>
          </a:xfrm>
          <a:prstGeom prst="rect">
            <a:avLst/>
          </a:prstGeom>
          <a:solidFill>
            <a:srgbClr val="F8FAFC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1554480" y="2331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Modèle IA YOLO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Détection d'armes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2057400" y="2743200"/>
            <a:ext cx="0" cy="13716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2880360"/>
            <a:ext cx="457200" cy="4572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371600" y="2880360"/>
            <a:ext cx="3200400" cy="457200"/>
          </a:xfrm>
          <a:prstGeom prst="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155448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Base de données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SQLite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2057400" y="3337560"/>
            <a:ext cx="0" cy="13716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474720"/>
            <a:ext cx="457200" cy="4572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1371600" y="3474720"/>
            <a:ext cx="3200400" cy="457200"/>
          </a:xfrm>
          <a:prstGeom prst="rect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1554480" y="3520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Application Web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Flask Backend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2057400" y="3931920"/>
            <a:ext cx="0" cy="13716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069080"/>
            <a:ext cx="457200" cy="45720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1371600" y="4069080"/>
            <a:ext cx="3200400" cy="457200"/>
          </a:xfrm>
          <a:prstGeom prst="rect">
            <a:avLst/>
          </a:prstGeom>
          <a:solidFill>
            <a:srgbClr val="F8FAFC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1554480" y="4114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Alertes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Email &amp; Interface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4846320" y="1097280"/>
            <a:ext cx="3840480" cy="3108960"/>
          </a:xfrm>
          <a:prstGeom prst="rect">
            <a:avLst/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1280160"/>
            <a:ext cx="457200" cy="4572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577840" y="1371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Stack Technologique</a:t>
            </a:r>
            <a:endParaRPr lang="en-US" sz="1600" dirty="0"/>
          </a:p>
        </p:txBody>
      </p:sp>
      <p:sp>
        <p:nvSpPr>
          <p:cNvPr id="30" name="Shape 21"/>
          <p:cNvSpPr/>
          <p:nvPr/>
        </p:nvSpPr>
        <p:spPr>
          <a:xfrm>
            <a:off x="5029200" y="1920240"/>
            <a:ext cx="1645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2"/>
          <p:cNvSpPr/>
          <p:nvPr/>
        </p:nvSpPr>
        <p:spPr>
          <a:xfrm>
            <a:off x="5074920" y="195681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Python 3.10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6812280" y="1920240"/>
            <a:ext cx="1645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4"/>
          <p:cNvSpPr/>
          <p:nvPr/>
        </p:nvSpPr>
        <p:spPr>
          <a:xfrm>
            <a:off x="6858000" y="195681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Flask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5029200" y="2240280"/>
            <a:ext cx="1645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6"/>
          <p:cNvSpPr/>
          <p:nvPr/>
        </p:nvSpPr>
        <p:spPr>
          <a:xfrm>
            <a:off x="5074920" y="227685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OpenCV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6812280" y="2240280"/>
            <a:ext cx="1645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8"/>
          <p:cNvSpPr/>
          <p:nvPr/>
        </p:nvSpPr>
        <p:spPr>
          <a:xfrm>
            <a:off x="6858000" y="227685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YOLOv7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5029200" y="2560320"/>
            <a:ext cx="1645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0"/>
          <p:cNvSpPr/>
          <p:nvPr/>
        </p:nvSpPr>
        <p:spPr>
          <a:xfrm>
            <a:off x="5074920" y="259689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SQLite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6812280" y="2560320"/>
            <a:ext cx="1645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2"/>
          <p:cNvSpPr/>
          <p:nvPr/>
        </p:nvSpPr>
        <p:spPr>
          <a:xfrm>
            <a:off x="6858000" y="259689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HTML5/CSS3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5029200" y="2880360"/>
            <a:ext cx="1645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4"/>
          <p:cNvSpPr/>
          <p:nvPr/>
        </p:nvSpPr>
        <p:spPr>
          <a:xfrm>
            <a:off x="5074920" y="291693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6812280" y="2880360"/>
            <a:ext cx="1645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6"/>
          <p:cNvSpPr/>
          <p:nvPr/>
        </p:nvSpPr>
        <p:spPr>
          <a:xfrm>
            <a:off x="6858000" y="291693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bcrypt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5029200" y="3200400"/>
            <a:ext cx="1645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8"/>
          <p:cNvSpPr/>
          <p:nvPr/>
        </p:nvSpPr>
        <p:spPr>
          <a:xfrm>
            <a:off x="5074920" y="323697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SMTP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FONCTIONNALITÉS CLÉS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1554480"/>
          </a:xfrm>
          <a:prstGeom prst="rect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2801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Authentification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Connexion sécurisée</a:t>
            </a:r>
            <a:endParaRPr lang="en-US" sz="11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avec bcrypt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097280"/>
            <a:ext cx="2743200" cy="1554480"/>
          </a:xfrm>
          <a:prstGeom prst="rect">
            <a:avLst/>
          </a:prstGeom>
          <a:solidFill>
            <a:srgbClr val="F8FAFC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2801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6616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Détection IA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566160" y="2286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YOLO temps réel</a:t>
            </a:r>
            <a:endParaRPr lang="en-US" sz="11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conf &gt; 25%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309360" y="1097280"/>
            <a:ext cx="2743200" cy="1554480"/>
          </a:xfrm>
          <a:prstGeom prst="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28016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9224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Stockage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492240" y="2286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SQLite + images</a:t>
            </a:r>
            <a:endParaRPr lang="en-US" sz="11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horodatées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2926080"/>
            <a:ext cx="2743200" cy="1554480"/>
          </a:xfrm>
          <a:prstGeom prst="rect">
            <a:avLst/>
          </a:prstGeom>
          <a:solidFill>
            <a:srgbClr val="F8FAFC"/>
          </a:solidFill>
          <a:ln w="2540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480" y="310896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794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Alertes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4114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Email SMTP +</a:t>
            </a:r>
            <a:endParaRPr lang="en-US" sz="11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notif sonores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383280" y="2926080"/>
            <a:ext cx="2743200" cy="155448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310896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566160" y="3794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Interface Agent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3566160" y="4114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Validation/Rejet</a:t>
            </a:r>
            <a:endParaRPr lang="en-US" sz="11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des alertes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309360" y="2926080"/>
            <a:ext cx="2743200" cy="1554480"/>
          </a:xfrm>
          <a:prstGeom prst="rect">
            <a:avLst/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0" y="3108960"/>
            <a:ext cx="548640" cy="5486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92240" y="3794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Dashboard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492240" y="4114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Stats temps réel</a:t>
            </a:r>
            <a:endParaRPr lang="en-US" sz="11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et historique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MÉTRIQUES &amp; RÉSULTATS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840480" cy="13716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371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15000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lignes de code applicatif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188720"/>
            <a:ext cx="3840480" cy="1371600"/>
          </a:xfrm>
          <a:prstGeom prst="rect">
            <a:avLst/>
          </a:prstGeom>
          <a:solidFill>
            <a:srgbClr val="00A89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0" y="1371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8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303520" y="1965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semaines de développement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3840480" cy="137160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30175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~200ms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005840" y="3611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 latence détection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2834640"/>
            <a:ext cx="3840480" cy="137160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0" y="30175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70%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5303520" y="3611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 taux de réussite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DIFFICULTÉS &amp; SOLUTIONS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⚠️ Collecte données réelles IA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0" y="1394460"/>
            <a:ext cx="3657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1887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✓ Utilisation datasets publics (COCO)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393192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⚠️ Calibration seuil YOLO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2080260"/>
            <a:ext cx="3657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783080"/>
            <a:ext cx="39319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✓ Tests itératifs: 0.25 dev → 0.6 prod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393192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560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⚠️ Flux vidéo corrompu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2766060"/>
            <a:ext cx="3657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39319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2560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✓ Séparation variables + encodage JPEG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393192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246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⚠️ Intégration backend/frontend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3451860"/>
            <a:ext cx="3657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3154680"/>
            <a:ext cx="39319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3246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✓ Architecture MVC Flask claire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393192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39319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⚠️ Gestion du temps (8 sem)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89120" y="4137660"/>
            <a:ext cx="3657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54880" y="3840480"/>
            <a:ext cx="39319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37760" y="39319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✓ Planning Gantt avec marges sécurité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DÉMONSTRATION DU SYSTÈME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3017520"/>
          </a:xfrm>
          <a:prstGeom prst="rect">
            <a:avLst/>
          </a:prstGeom>
          <a:solidFill>
            <a:srgbClr val="0F172A"/>
          </a:solidFill>
          <a:ln w="381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896"/>
                </a:solidFill>
              </a:rPr>
              <a:t>[ DÉMONSTRATION LIVE ]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</a:rPr>
              <a:t>Présentation de l'interface et du flux de détection en temps réel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4251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1. </a:t>
            </a: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Connexion sécurisée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2. </a:t>
            </a:r>
            <a:r>
              <a:rPr lang="en-US" sz="1300" dirty="0">
                <a:solidFill>
                  <a:srgbClr val="0F172A"/>
                </a:solidFill>
              </a:rPr>
              <a:t>Détection en temps réel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3. </a:t>
            </a:r>
            <a:r>
              <a:rPr lang="en-US" sz="1300" dirty="0">
                <a:solidFill>
                  <a:srgbClr val="0F172A"/>
                </a:solidFill>
              </a:rPr>
              <a:t>Gestion des alertes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4. </a:t>
            </a:r>
            <a:r>
              <a:rPr lang="en-US" sz="1300" dirty="0">
                <a:solidFill>
                  <a:srgbClr val="0F172A"/>
                </a:solidFill>
              </a:rPr>
              <a:t>Dashboard et statistiques</a:t>
            </a:r>
            <a:endParaRPr lang="en-US" sz="13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CD0E27-4689-7257-2950-B446D9D522E2}"/>
              </a:ext>
            </a:extLst>
          </p:cNvPr>
          <p:cNvSpPr/>
          <p:nvPr/>
        </p:nvSpPr>
        <p:spPr>
          <a:xfrm>
            <a:off x="1043940" y="1402080"/>
            <a:ext cx="6880860" cy="4800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https://kimberly-unsilhouetted-accessibly.ngrok-free.dev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CONCLUSION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88720" y="155448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0B981"/>
                </a:solidFill>
              </a:rPr>
              <a:t>✓ </a:t>
            </a:r>
            <a:r>
              <a:rPr lang="en-US" sz="1300" dirty="0">
                <a:solidFill>
                  <a:srgbClr val="0F172A"/>
                </a:solidFill>
              </a:rPr>
              <a:t>Système fonctionnel de détection d'armes par IA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0B981"/>
                </a:solidFill>
              </a:rPr>
              <a:t>✓ </a:t>
            </a:r>
            <a:r>
              <a:rPr lang="en-US" sz="1300" dirty="0">
                <a:solidFill>
                  <a:srgbClr val="0F172A"/>
                </a:solidFill>
              </a:rPr>
              <a:t>Interface web complète et sécurisée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0B981"/>
                </a:solidFill>
              </a:rPr>
              <a:t>✓ </a:t>
            </a:r>
            <a:r>
              <a:rPr lang="en-US" sz="1300" dirty="0">
                <a:solidFill>
                  <a:srgbClr val="0F172A"/>
                </a:solidFill>
              </a:rPr>
              <a:t>Gestion intelligente des alertes en temps réel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0B981"/>
                </a:solidFill>
              </a:rPr>
              <a:t>✓ </a:t>
            </a:r>
            <a:r>
              <a:rPr lang="en-US" sz="1300" dirty="0">
                <a:solidFill>
                  <a:srgbClr val="0F172A"/>
                </a:solidFill>
              </a:rPr>
              <a:t>70% de taux de réalisation des objectifs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0B981"/>
                </a:solidFill>
              </a:rPr>
              <a:t>✓ </a:t>
            </a:r>
            <a:r>
              <a:rPr lang="en-US" sz="1300" dirty="0">
                <a:solidFill>
                  <a:srgbClr val="0F172A"/>
                </a:solidFill>
              </a:rPr>
              <a:t>Compétences acquises en IA et développement full-stack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</a:rPr>
              <a:t>PERSPECTIVES D'ÉVOLUTION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• Extension à d'autres objets dangereux</a:t>
            </a:r>
            <a:endParaRPr lang="en-US" sz="14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• Intégration multi-</a:t>
            </a:r>
            <a:r>
              <a:rPr lang="en-US" sz="1400" dirty="0" err="1">
                <a:solidFill>
                  <a:srgbClr val="FFFFFF"/>
                </a:solidFill>
              </a:rPr>
              <a:t>caméras</a:t>
            </a:r>
            <a:endParaRPr lang="en-US" sz="14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• Version mobile (Android/iOS)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662</Words>
  <Application>Microsoft Office PowerPoint</Application>
  <PresentationFormat>On-screen Show (16:9)</PresentationFormat>
  <Paragraphs>172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de Détection d'Armes par IA</dc:title>
  <dc:subject>PptxGenJS Presentation</dc:subject>
  <dc:creator>CFPD-ISGD</dc:creator>
  <cp:lastModifiedBy>Amaryldo Elkassia</cp:lastModifiedBy>
  <cp:revision>8</cp:revision>
  <dcterms:created xsi:type="dcterms:W3CDTF">2026-03-28T23:49:07Z</dcterms:created>
  <dcterms:modified xsi:type="dcterms:W3CDTF">2026-04-11T11:43:20Z</dcterms:modified>
</cp:coreProperties>
</file>